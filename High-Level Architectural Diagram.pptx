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10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E2FE-0A75-9341-E177-D25435CB1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AE148-FEEE-EC98-89F6-029166EA7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26E07-B713-74E5-A378-DF0F301C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06D4B-92FA-074E-FA4C-E59E4E0A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FA6B2-E118-55EF-D3B2-FB8DF234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020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AFB3-3F6F-3983-0D0C-BD93F15E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357A-1226-4AA9-FB73-7F29C7419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B09E3-5F2A-779B-0632-4ED7E688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8C95D-0902-F6D7-F190-F5018CD7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3EA6A-0A8B-01C2-EF6E-03DE6CEB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68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14BC-6B9C-2688-6632-EAD2527F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6BD5-C27F-639F-9B71-4C16CB26E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0A0D4-378A-7101-D6D2-4E081379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5971B-3E3D-9283-EFA6-1D05DAF8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B4643-D1D2-D27A-BC59-AF509701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325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D0BD-5609-5AE1-2C8C-6E5D9974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609D-93A6-ADB4-AC82-D5CCCCA92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643B6-2D58-4336-1240-1E26467C2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A7BF2-976B-2691-F663-C51C9EB6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0FE2-FF37-61C0-0DBE-52ABB7D6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EB404-7B49-A307-0729-441DE264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919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5808-D3B2-A0EA-803D-60C3C007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454C-A3E8-B465-E5D2-A80A4F72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8EDD9-CA5D-FE5F-FCC5-E6DC33C1A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00B25-AE64-F034-D746-10A608DAA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F0B70-9391-68CD-7C6C-CE6BDDA88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0ADF3-C46C-21B3-D5F7-7B339658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9D6BB-1DA7-BE40-7CD4-0577F641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C73E7-5FF4-9AD6-DC06-758D1D2A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146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57F9-D838-65C8-2B1E-484A6FBD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3BD8D-CCAC-B516-3FBF-A03FEDF7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CC142-DF9E-7EE3-B65C-FCA1ABE3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F96D9-24CF-1622-054F-5CC5513D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755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EE8B9-5E6A-FEAE-C438-0650304B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BE239-FC28-F1DE-A78E-A05B5759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64FF4-7B2D-C57A-B23D-2E97A744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032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4866-5BDB-9DF0-0D36-8B6F24F6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284FC-2232-74C7-B3DA-48F38ED3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FBA9C-0B04-F497-677E-521642EA5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9F98E-ACAC-EAA5-72DF-1D56493E3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3BBA6-DD5F-39BF-21E9-F5A700AC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A68AB-147A-38AD-4F50-B364A9E0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088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6B62-9E17-9861-029C-863389B0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72C79-D038-F5C7-7E10-FD3A706DE04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4C77A-B9DC-14CE-3669-41818EC77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AEDB6-4D54-2F9D-5575-4EC0BAB7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E8C4E-1EEF-227A-1F3E-1F5131FF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F6734-2732-6652-35D2-F070FD36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36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0BAA-59AE-F719-1F49-EBEE9ABC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26306-E89F-9D90-4462-0B33A67F9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1C213-ACA7-E5EF-9ABD-E9D84609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79167-4465-B827-7407-7BD28248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11940-D89C-FBAF-60BB-1D51F3A5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973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D999A-2367-A8AE-EFE1-2159B3105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2812C-12F1-D5E7-F399-AE85A7494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E33E3-3586-8C39-A932-36C6EE0A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E23CA-10A5-C4E2-04C5-C20D2879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50745-576B-6E67-A0FA-5519CD9D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973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51119-CCC0-3636-6D5E-3594D020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93F07-2A93-F9D5-803D-E7A9DD8DE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2290A-4579-5E39-968A-ACEA84A6C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CDA5E-C649-49BE-98E6-0E3364A7E5A0}" type="datetimeFigureOut">
              <a:rPr lang="en-IE" smtClean="0"/>
              <a:t>25/10/2026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368C7-E75B-9B93-E344-6F8EC3345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3036-3F8C-3745-4848-53650548E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4A9DD-8F28-461E-B9F9-0C5E87913B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547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87EA1D-6717-503D-0693-B2F5F4E88C0A}"/>
              </a:ext>
            </a:extLst>
          </p:cNvPr>
          <p:cNvSpPr/>
          <p:nvPr/>
        </p:nvSpPr>
        <p:spPr>
          <a:xfrm>
            <a:off x="3251195" y="87561"/>
            <a:ext cx="5715001" cy="711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08DD10-9193-B74E-DFBC-8CE794C02C6D}"/>
              </a:ext>
            </a:extLst>
          </p:cNvPr>
          <p:cNvSpPr/>
          <p:nvPr/>
        </p:nvSpPr>
        <p:spPr>
          <a:xfrm>
            <a:off x="3251195" y="1088734"/>
            <a:ext cx="5715001" cy="7281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EB86FA-A5A2-0BD3-D5D9-1940781581E1}"/>
              </a:ext>
            </a:extLst>
          </p:cNvPr>
          <p:cNvSpPr/>
          <p:nvPr/>
        </p:nvSpPr>
        <p:spPr>
          <a:xfrm>
            <a:off x="3222197" y="2123834"/>
            <a:ext cx="5715001" cy="7090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549B27-B080-2460-0C8A-9F7CA9471067}"/>
              </a:ext>
            </a:extLst>
          </p:cNvPr>
          <p:cNvSpPr/>
          <p:nvPr/>
        </p:nvSpPr>
        <p:spPr>
          <a:xfrm>
            <a:off x="3193197" y="5681251"/>
            <a:ext cx="5715001" cy="80433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755E31-8F5C-51DB-F416-27A3EF1829D0}"/>
              </a:ext>
            </a:extLst>
          </p:cNvPr>
          <p:cNvSpPr/>
          <p:nvPr/>
        </p:nvSpPr>
        <p:spPr>
          <a:xfrm>
            <a:off x="1092221" y="3151328"/>
            <a:ext cx="2870201" cy="11158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E8761A8-53FE-08F0-5A6B-A946A467F66C}"/>
              </a:ext>
            </a:extLst>
          </p:cNvPr>
          <p:cNvSpPr/>
          <p:nvPr/>
        </p:nvSpPr>
        <p:spPr>
          <a:xfrm>
            <a:off x="3251195" y="4572059"/>
            <a:ext cx="5715001" cy="8043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BFB0D9-A4AC-E5A0-97F6-BF48DD2275AF}"/>
              </a:ext>
            </a:extLst>
          </p:cNvPr>
          <p:cNvSpPr txBox="1"/>
          <p:nvPr/>
        </p:nvSpPr>
        <p:spPr>
          <a:xfrm>
            <a:off x="3251195" y="48203"/>
            <a:ext cx="45593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Stock Selection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Select 3 stocks using Trading 212’s volatility classifications (low, medium and high)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JPMorgan Chase &amp; Co. (JPM) – 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Coca-Cola Co. (KO) – Medium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Intel Corp. (INTC) – High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3A8D3B-DE00-4D9F-5A89-6F347F751817}"/>
              </a:ext>
            </a:extLst>
          </p:cNvPr>
          <p:cNvSpPr/>
          <p:nvPr/>
        </p:nvSpPr>
        <p:spPr>
          <a:xfrm>
            <a:off x="8229578" y="3149978"/>
            <a:ext cx="2870201" cy="11269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A3CF37-BB51-48D2-0C17-CF40A30F58AD}"/>
              </a:ext>
            </a:extLst>
          </p:cNvPr>
          <p:cNvSpPr/>
          <p:nvPr/>
        </p:nvSpPr>
        <p:spPr>
          <a:xfrm>
            <a:off x="4673597" y="3161096"/>
            <a:ext cx="2870201" cy="11158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AA7FAA-447A-697E-B075-81408A6AA5C3}"/>
              </a:ext>
            </a:extLst>
          </p:cNvPr>
          <p:cNvSpPr txBox="1"/>
          <p:nvPr/>
        </p:nvSpPr>
        <p:spPr>
          <a:xfrm>
            <a:off x="3251195" y="1143090"/>
            <a:ext cx="4559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Data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Download historical daily stock prices from Stooq (JPM, KO, INTC)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Approximately 44-46 years of data, where available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Use historical closing prices feature of website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237545-D3D5-8F0A-663D-AC8E34B20DF0}"/>
              </a:ext>
            </a:extLst>
          </p:cNvPr>
          <p:cNvSpPr txBox="1"/>
          <p:nvPr/>
        </p:nvSpPr>
        <p:spPr>
          <a:xfrm>
            <a:off x="3238497" y="2123834"/>
            <a:ext cx="4559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Data Preparation and Feature Engineering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Clean and check datasets for missing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Order data chronologically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Create predictive features (lagged prices and moving averages)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FB7D3B-9B8B-160E-E8E6-6F351191C990}"/>
              </a:ext>
            </a:extLst>
          </p:cNvPr>
          <p:cNvSpPr txBox="1"/>
          <p:nvPr/>
        </p:nvSpPr>
        <p:spPr>
          <a:xfrm>
            <a:off x="1312851" y="3298244"/>
            <a:ext cx="24289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b="1" dirty="0"/>
              <a:t>Create Linear Regression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Models linear relationship between historical prices and future prices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Uses lagged prices and moving averages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Implemented using Scikit-learn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5012CD-54CD-223A-BC10-CDAE52BF22E0}"/>
              </a:ext>
            </a:extLst>
          </p:cNvPr>
          <p:cNvSpPr txBox="1"/>
          <p:nvPr/>
        </p:nvSpPr>
        <p:spPr>
          <a:xfrm>
            <a:off x="4930472" y="3298243"/>
            <a:ext cx="2536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b="1" dirty="0"/>
              <a:t>Create Random Forest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Combines multiple decision trees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Captures non-linear relationships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Uses same input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Implemented using Scikit-learn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3BF453-BF04-46BB-D19C-09C510D8BA40}"/>
              </a:ext>
            </a:extLst>
          </p:cNvPr>
          <p:cNvSpPr txBox="1"/>
          <p:nvPr/>
        </p:nvSpPr>
        <p:spPr>
          <a:xfrm>
            <a:off x="8356556" y="3293974"/>
            <a:ext cx="2743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b="1" dirty="0"/>
              <a:t>Create Naïve Forecast Baseline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Assumes future closing price equals last observed closing price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Provides a simple benchmark for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No machine learning model required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D9D119-2BDE-E7F4-A46F-C5148319986F}"/>
              </a:ext>
            </a:extLst>
          </p:cNvPr>
          <p:cNvSpPr txBox="1"/>
          <p:nvPr/>
        </p:nvSpPr>
        <p:spPr>
          <a:xfrm>
            <a:off x="3222197" y="5716143"/>
            <a:ext cx="48789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Evaluation and Comparison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Compare predicted and actual stock closing prices (3 actual prices)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Calculate absolute error and absolute percentage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Present results in comparison tables and charts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Analyse differences in forecasting performance across the three stocks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742D55-C3C1-3213-4785-71D294125959}"/>
              </a:ext>
            </a:extLst>
          </p:cNvPr>
          <p:cNvSpPr txBox="1"/>
          <p:nvPr/>
        </p:nvSpPr>
        <p:spPr>
          <a:xfrm>
            <a:off x="3258185" y="4634868"/>
            <a:ext cx="5338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Generate Forecasts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Train models using historical data available up to a common cut-off date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Predict stock closing price 20 trading days ahead for each company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800" dirty="0"/>
              <a:t>Generate one forecast per model and company (Total of 9 predictions)</a:t>
            </a:r>
          </a:p>
        </p:txBody>
      </p:sp>
      <p:pic>
        <p:nvPicPr>
          <p:cNvPr id="42" name="Picture 41" descr="trading-212-logo | Verylvke">
            <a:extLst>
              <a:ext uri="{FF2B5EF4-FFF2-40B4-BE49-F238E27FC236}">
                <a16:creationId xmlns:a16="http://schemas.microsoft.com/office/drawing/2014/main" id="{768DBA51-9222-0FF3-A326-7BA02E39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798" y="144879"/>
            <a:ext cx="1159295" cy="608631"/>
          </a:xfrm>
          <a:prstGeom prst="rect">
            <a:avLst/>
          </a:prstGeom>
        </p:spPr>
      </p:pic>
      <p:pic>
        <p:nvPicPr>
          <p:cNvPr id="45" name="Picture 44" descr="Aktualności - Healthnomic S.A.">
            <a:extLst>
              <a:ext uri="{FF2B5EF4-FFF2-40B4-BE49-F238E27FC236}">
                <a16:creationId xmlns:a16="http://schemas.microsoft.com/office/drawing/2014/main" id="{23780E35-3745-F60C-3B1D-7991EC02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695" y="1158024"/>
            <a:ext cx="1200486" cy="586175"/>
          </a:xfrm>
          <a:prstGeom prst="rect">
            <a:avLst/>
          </a:prstGeom>
        </p:spPr>
      </p:pic>
      <p:pic>
        <p:nvPicPr>
          <p:cNvPr id="46" name="Picture 45" descr="A Beginner's Guide to Data Cleaning and Preparation | DataFLOQ">
            <a:extLst>
              <a:ext uri="{FF2B5EF4-FFF2-40B4-BE49-F238E27FC236}">
                <a16:creationId xmlns:a16="http://schemas.microsoft.com/office/drawing/2014/main" id="{8538A08A-A4ED-484C-3504-63A280663F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5" t="29210" r="57532" b="16404"/>
          <a:stretch>
            <a:fillRect/>
          </a:stretch>
        </p:blipFill>
        <p:spPr>
          <a:xfrm>
            <a:off x="7146530" y="2197559"/>
            <a:ext cx="632983" cy="507013"/>
          </a:xfrm>
          <a:prstGeom prst="rect">
            <a:avLst/>
          </a:prstGeom>
        </p:spPr>
      </p:pic>
      <p:pic>
        <p:nvPicPr>
          <p:cNvPr id="47" name="Picture 46" descr="Calendar Images - Free Download on Magnific (formerly Freepik)">
            <a:extLst>
              <a:ext uri="{FF2B5EF4-FFF2-40B4-BE49-F238E27FC236}">
                <a16:creationId xmlns:a16="http://schemas.microsoft.com/office/drawing/2014/main" id="{BE875851-F242-5466-032E-633E8274A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074" y="2140860"/>
            <a:ext cx="612277" cy="61227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456589C-96FE-BB60-4F66-8A1AD6C1C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31" y="4628922"/>
            <a:ext cx="711507" cy="7020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D4CDAA9-5C1F-6B8A-7009-8C44E7079B48}"/>
              </a:ext>
            </a:extLst>
          </p:cNvPr>
          <p:cNvSpPr txBox="1"/>
          <p:nvPr/>
        </p:nvSpPr>
        <p:spPr>
          <a:xfrm>
            <a:off x="7724937" y="4776171"/>
            <a:ext cx="978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000" b="1" dirty="0"/>
              <a:t>20 Trading days Ahead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A7FF7DBD-F6B2-BF08-7B8C-F0477B2FCBA0}"/>
              </a:ext>
            </a:extLst>
          </p:cNvPr>
          <p:cNvSpPr/>
          <p:nvPr/>
        </p:nvSpPr>
        <p:spPr>
          <a:xfrm>
            <a:off x="8603398" y="4818477"/>
            <a:ext cx="304800" cy="273509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9AEB3B3-CC7C-6847-0F08-C3D0E29140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931" b="25358"/>
          <a:stretch>
            <a:fillRect/>
          </a:stretch>
        </p:blipFill>
        <p:spPr>
          <a:xfrm>
            <a:off x="6943607" y="5808289"/>
            <a:ext cx="809903" cy="58514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76A8256-12AC-4EEB-6F2B-6382315259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7197" y="5808289"/>
            <a:ext cx="778717" cy="585147"/>
          </a:xfrm>
          <a:prstGeom prst="rect">
            <a:avLst/>
          </a:prstGeom>
        </p:spPr>
      </p:pic>
      <p:sp>
        <p:nvSpPr>
          <p:cNvPr id="60" name="Arrow: Down 59">
            <a:extLst>
              <a:ext uri="{FF2B5EF4-FFF2-40B4-BE49-F238E27FC236}">
                <a16:creationId xmlns:a16="http://schemas.microsoft.com/office/drawing/2014/main" id="{1E15D45C-6B28-874A-DDB7-143E0285BFDA}"/>
              </a:ext>
            </a:extLst>
          </p:cNvPr>
          <p:cNvSpPr/>
          <p:nvPr/>
        </p:nvSpPr>
        <p:spPr>
          <a:xfrm>
            <a:off x="5943597" y="837068"/>
            <a:ext cx="304800" cy="209550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15EA56BA-D7D1-EC2C-B2D3-03CF64B7644A}"/>
              </a:ext>
            </a:extLst>
          </p:cNvPr>
          <p:cNvSpPr/>
          <p:nvPr/>
        </p:nvSpPr>
        <p:spPr>
          <a:xfrm>
            <a:off x="5930468" y="1868226"/>
            <a:ext cx="304800" cy="209550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A93FD8CB-69D0-3E04-53DA-6AE099664229}"/>
              </a:ext>
            </a:extLst>
          </p:cNvPr>
          <p:cNvSpPr/>
          <p:nvPr/>
        </p:nvSpPr>
        <p:spPr>
          <a:xfrm>
            <a:off x="5927297" y="2884281"/>
            <a:ext cx="304800" cy="2095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4C61EACA-9A08-22F7-00F7-D6166188FCEA}"/>
              </a:ext>
            </a:extLst>
          </p:cNvPr>
          <p:cNvSpPr/>
          <p:nvPr/>
        </p:nvSpPr>
        <p:spPr>
          <a:xfrm>
            <a:off x="5943597" y="5409104"/>
            <a:ext cx="304800" cy="209550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00F822A1-3FB1-593C-6272-ABFC9C271933}"/>
              </a:ext>
            </a:extLst>
          </p:cNvPr>
          <p:cNvSpPr/>
          <p:nvPr/>
        </p:nvSpPr>
        <p:spPr>
          <a:xfrm>
            <a:off x="3405927" y="2884281"/>
            <a:ext cx="304800" cy="2095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95D51CC1-65AB-69A7-19EE-4E0391333249}"/>
              </a:ext>
            </a:extLst>
          </p:cNvPr>
          <p:cNvSpPr/>
          <p:nvPr/>
        </p:nvSpPr>
        <p:spPr>
          <a:xfrm>
            <a:off x="8467888" y="2874835"/>
            <a:ext cx="304800" cy="2095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4B260CB-DE50-18E1-C1AA-791BBEF3C988}"/>
              </a:ext>
            </a:extLst>
          </p:cNvPr>
          <p:cNvSpPr/>
          <p:nvPr/>
        </p:nvSpPr>
        <p:spPr>
          <a:xfrm>
            <a:off x="8467888" y="4318282"/>
            <a:ext cx="304800" cy="186931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5406544F-06E3-BB8D-F10D-B9D874872F0A}"/>
              </a:ext>
            </a:extLst>
          </p:cNvPr>
          <p:cNvSpPr/>
          <p:nvPr/>
        </p:nvSpPr>
        <p:spPr>
          <a:xfrm>
            <a:off x="5920306" y="4319739"/>
            <a:ext cx="304800" cy="20955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F34E02C5-EBF6-91DE-D0D7-607CC379B1C1}"/>
              </a:ext>
            </a:extLst>
          </p:cNvPr>
          <p:cNvSpPr/>
          <p:nvPr/>
        </p:nvSpPr>
        <p:spPr>
          <a:xfrm>
            <a:off x="3405927" y="4313260"/>
            <a:ext cx="304800" cy="209550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493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243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O'Reilly</dc:creator>
  <cp:lastModifiedBy>kyle O'Reilly</cp:lastModifiedBy>
  <cp:revision>1</cp:revision>
  <dcterms:created xsi:type="dcterms:W3CDTF">2026-10-24T23:56:13Z</dcterms:created>
  <dcterms:modified xsi:type="dcterms:W3CDTF">2026-10-25T00:25:22Z</dcterms:modified>
</cp:coreProperties>
</file>